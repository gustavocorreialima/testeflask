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  <p:embeddedFont>
      <p:font typeface="Quattrocento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QuattrocentoSans-boldItalic.fntdata"/><Relationship Id="rId10" Type="http://schemas.openxmlformats.org/officeDocument/2006/relationships/font" Target="fonts/QuattrocentoSans-italic.fntdata"/><Relationship Id="rId9" Type="http://schemas.openxmlformats.org/officeDocument/2006/relationships/font" Target="fonts/QuattrocentoSans-bold.fntdata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schemas.openxmlformats.org/officeDocument/2006/relationships/font" Target="fonts/Quattrocento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429097" y="2865090"/>
            <a:ext cx="11174785" cy="2117584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229549" y="115183"/>
            <a:ext cx="6297622" cy="354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{{nome_processo}}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429533" y="177373"/>
            <a:ext cx="805555" cy="214137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E54C24"/>
              </a:gs>
              <a:gs pos="100000">
                <a:srgbClr val="C82027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OTC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9312761" y="524735"/>
            <a:ext cx="2296564" cy="407588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9312761" y="953802"/>
            <a:ext cx="2296564" cy="407588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429533" y="5178481"/>
            <a:ext cx="11179791" cy="919959"/>
          </a:xfrm>
          <a:prstGeom prst="roundRect">
            <a:avLst>
              <a:gd fmla="val 1471" name="adj"/>
            </a:avLst>
          </a:prstGeom>
          <a:solidFill>
            <a:schemeClr val="lt1">
              <a:alpha val="87843"/>
            </a:schemeClr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4539" y="1435446"/>
            <a:ext cx="11174785" cy="1320535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13"/>
          <p:cNvCxnSpPr/>
          <p:nvPr/>
        </p:nvCxnSpPr>
        <p:spPr>
          <a:xfrm>
            <a:off x="551957" y="3158183"/>
            <a:ext cx="3600000" cy="0"/>
          </a:xfrm>
          <a:prstGeom prst="straightConnector1">
            <a:avLst/>
          </a:prstGeom>
          <a:noFill/>
          <a:ln cap="flat" cmpd="sng" w="57150">
            <a:solidFill>
              <a:srgbClr val="FCB01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13"/>
          <p:cNvSpPr/>
          <p:nvPr/>
        </p:nvSpPr>
        <p:spPr>
          <a:xfrm>
            <a:off x="455452" y="1460858"/>
            <a:ext cx="1592089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Descrição: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4303553" y="2841708"/>
            <a:ext cx="2251466" cy="365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Comentários Adicionais: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55452" y="5262918"/>
            <a:ext cx="3600000" cy="26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Benefícios qualitativos: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455452" y="2841708"/>
            <a:ext cx="3780190" cy="438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Tecnologias propostas:</a:t>
            </a:r>
            <a:endParaRPr b="1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6977960" y="524734"/>
            <a:ext cx="2296564" cy="823227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4608558" y="524734"/>
            <a:ext cx="2296564" cy="823227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431127" y="524734"/>
            <a:ext cx="4104593" cy="823227"/>
          </a:xfrm>
          <a:prstGeom prst="roundRect">
            <a:avLst>
              <a:gd fmla="val 1471" name="adj"/>
            </a:avLst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0397020" y="626614"/>
            <a:ext cx="1062141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10397020" y="974465"/>
            <a:ext cx="1062141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860643" y="951400"/>
            <a:ext cx="9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{{check_automacao}}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2292310" y="951400"/>
            <a:ext cx="9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{{check_processo}}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3418360" y="951400"/>
            <a:ext cx="9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{{check_governanca}}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5506050" y="9514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200">
                <a:solidFill>
                  <a:schemeClr val="dk1"/>
                </a:solidFill>
              </a:rPr>
            </a:br>
            <a:r>
              <a:rPr lang="pt-BR" sz="1200">
                <a:solidFill>
                  <a:schemeClr val="dk1"/>
                </a:solidFill>
              </a:rPr>
              <a:t>{{check_p}}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6064775" y="9514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{{check_m}}</a:t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6607200" y="9514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{{check_g}}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476058" y="531186"/>
            <a:ext cx="2201765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Solução Proposta: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4620048" y="531186"/>
            <a:ext cx="2201765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Complexidade: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7011794" y="531186"/>
            <a:ext cx="2201765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Benefício/Ano: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9066041" y="573934"/>
            <a:ext cx="1062141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Esforço: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9359576" y="1017819"/>
            <a:ext cx="679758" cy="246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Custo: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1995720" y="951400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154176" y="5580266"/>
            <a:ext cx="2124000" cy="237930"/>
          </a:xfrm>
          <a:prstGeom prst="roundRect">
            <a:avLst>
              <a:gd fmla="val 500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REDUÇÃO DE ERROS MANUAIS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4610585" y="5580266"/>
            <a:ext cx="2124000" cy="237930"/>
          </a:xfrm>
          <a:prstGeom prst="roundRect">
            <a:avLst>
              <a:gd fmla="val 500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GANHO DE AGILIDADE NO PROCESSO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8066994" y="5580266"/>
            <a:ext cx="2124000" cy="237930"/>
          </a:xfrm>
          <a:prstGeom prst="roundRect">
            <a:avLst>
              <a:gd fmla="val 50000" name="adj"/>
            </a:avLst>
          </a:prstGeom>
          <a:solidFill>
            <a:srgbClr val="FF5800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PADRONIZAÇÃO DO PROCESSO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530403" y="1738439"/>
            <a:ext cx="10740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{{descricao_processo}}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0039320" y="583500"/>
            <a:ext cx="156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{{esforco_semanas}}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9999665" y="845909"/>
            <a:ext cx="11592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FC570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FC5701"/>
                </a:solidFill>
              </a:rPr>
              <a:t>{{custo_projeto}}</a:t>
            </a:r>
            <a:endParaRPr b="1" sz="1150">
              <a:solidFill>
                <a:srgbClr val="FC5701"/>
              </a:solidFill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4277604" y="3342740"/>
            <a:ext cx="36720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>
                <a:solidFill>
                  <a:schemeClr val="dk1"/>
                </a:solidFill>
              </a:rPr>
              <a:t>{{comentarios_adicionais}}</a:t>
            </a:r>
            <a:endParaRPr/>
          </a:p>
        </p:txBody>
      </p:sp>
      <p:pic>
        <p:nvPicPr>
          <p:cNvPr id="121" name="Google Shape;1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2887" y="8666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734" y="86880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/>
          <p:nvPr/>
        </p:nvSpPr>
        <p:spPr>
          <a:xfrm>
            <a:off x="3121112" y="958262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5267738" y="959186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5808000" y="947522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6381972" y="945519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555270" y="954967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13"/>
          <p:cNvCxnSpPr/>
          <p:nvPr/>
        </p:nvCxnSpPr>
        <p:spPr>
          <a:xfrm>
            <a:off x="4367727" y="3158183"/>
            <a:ext cx="3600000" cy="0"/>
          </a:xfrm>
          <a:prstGeom prst="straightConnector1">
            <a:avLst/>
          </a:prstGeom>
          <a:noFill/>
          <a:ln cap="flat" cmpd="sng" w="57150">
            <a:solidFill>
              <a:srgbClr val="FCB01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3"/>
          <p:cNvSpPr/>
          <p:nvPr/>
        </p:nvSpPr>
        <p:spPr>
          <a:xfrm>
            <a:off x="4934902" y="951400"/>
            <a:ext cx="3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{{check_PP}}</a:t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4670838" y="959186"/>
            <a:ext cx="288000" cy="288000"/>
          </a:xfrm>
          <a:prstGeom prst="rect">
            <a:avLst/>
          </a:prstGeom>
          <a:noFill/>
          <a:ln cap="flat" cmpd="sng" w="19050">
            <a:solidFill>
              <a:srgbClr val="C8202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48000" spcFirstLastPara="1" rIns="4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6843976" y="689513"/>
            <a:ext cx="2296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C5701"/>
                </a:solidFill>
              </a:rPr>
              <a:t>{{horas_beneficio}}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C570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FC5701"/>
                </a:solidFill>
              </a:rPr>
              <a:t>{{dinheiro_beneficio}}</a:t>
            </a:r>
            <a:br>
              <a:rPr b="1" lang="pt-BR" sz="2000">
                <a:solidFill>
                  <a:srgbClr val="FC5701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2000">
              <a:solidFill>
                <a:srgbClr val="FC570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455452" y="3335909"/>
            <a:ext cx="3672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7302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rPr lang="pt-BR" sz="1150">
                <a:solidFill>
                  <a:schemeClr val="dk1"/>
                </a:solidFill>
              </a:rPr>
              <a:t>{{tecnologias_propostas}}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4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425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8120845" y="2841291"/>
            <a:ext cx="2251466" cy="365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Riscos mapeados:</a:t>
            </a:r>
            <a:endParaRPr b="1"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13"/>
          <p:cNvCxnSpPr/>
          <p:nvPr/>
        </p:nvCxnSpPr>
        <p:spPr>
          <a:xfrm>
            <a:off x="8185019" y="3157766"/>
            <a:ext cx="3308781" cy="104"/>
          </a:xfrm>
          <a:prstGeom prst="straightConnector1">
            <a:avLst/>
          </a:prstGeom>
          <a:noFill/>
          <a:ln cap="flat" cmpd="sng" w="57150">
            <a:solidFill>
              <a:srgbClr val="FCB01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13"/>
          <p:cNvSpPr txBox="1"/>
          <p:nvPr/>
        </p:nvSpPr>
        <p:spPr>
          <a:xfrm>
            <a:off x="8327713" y="3380400"/>
            <a:ext cx="3023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</a:rPr>
              <a:t>{{riscos_mapeados}}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