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  <p:embeddedFont>
      <p:font typeface="Quattrocento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QuattrocentoSans-regular.fntdata"/><Relationship Id="rId9" Type="http://schemas.openxmlformats.org/officeDocument/2006/relationships/font" Target="fonts/QuattrocentoSans-bold.fntdata"/><Relationship Id="rId10" Type="http://schemas.openxmlformats.org/officeDocument/2006/relationships/font" Target="fonts/QuattrocentoSans-italic.fntdata"/><Relationship Id="rId11" Type="http://schemas.openxmlformats.org/officeDocument/2006/relationships/font" Target="fonts/Quattrocento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/>
        </p:txBody>
      </p:sp>
      <p:sp>
        <p:nvSpPr>
          <p:cNvPr id="85" name="Google Shape;85;p13"/>
          <p:cNvSpPr/>
          <p:nvPr/>
        </p:nvSpPr>
        <p:spPr>
          <a:xfrm>
            <a:off x="429097" y="2865090"/>
            <a:ext cx="11174785" cy="2117584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86" name="Google Shape;86;p13"/>
          <p:cNvSpPr/>
          <p:nvPr/>
        </p:nvSpPr>
        <p:spPr>
          <a:xfrm>
            <a:off x="1229549" y="115183"/>
            <a:ext cx="6297622" cy="354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teste-doc-gen-123 - Otimização de Processos</a:t>
            </a:r>
          </a:p>
        </p:txBody>
      </p:sp>
      <p:sp>
        <p:nvSpPr>
          <p:cNvPr id="87" name="Google Shape;87;p13"/>
          <p:cNvSpPr/>
          <p:nvPr/>
        </p:nvSpPr>
        <p:spPr>
          <a:xfrm>
            <a:off x="429533" y="177373"/>
            <a:ext cx="805555" cy="214137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54C24"/>
              </a:gs>
              <a:gs pos="100000">
                <a:srgbClr val="C82027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r>
              <a:t>OTC</a:t>
            </a:r>
          </a:p>
        </p:txBody>
      </p:sp>
      <p:sp>
        <p:nvSpPr>
          <p:cNvPr id="88" name="Google Shape;88;p13"/>
          <p:cNvSpPr/>
          <p:nvPr/>
        </p:nvSpPr>
        <p:spPr>
          <a:xfrm>
            <a:off x="9312761" y="524735"/>
            <a:ext cx="2296564" cy="407588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89" name="Google Shape;89;p13"/>
          <p:cNvSpPr/>
          <p:nvPr/>
        </p:nvSpPr>
        <p:spPr>
          <a:xfrm>
            <a:off x="9312761" y="953802"/>
            <a:ext cx="2296564" cy="407588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90" name="Google Shape;90;p13"/>
          <p:cNvSpPr/>
          <p:nvPr/>
        </p:nvSpPr>
        <p:spPr>
          <a:xfrm>
            <a:off x="429533" y="5178481"/>
            <a:ext cx="11179791" cy="919959"/>
          </a:xfrm>
          <a:prstGeom prst="roundRect">
            <a:avLst>
              <a:gd fmla="val 1471" name="adj"/>
            </a:avLst>
          </a:prstGeom>
          <a:solidFill>
            <a:schemeClr val="lt1">
              <a:alpha val="87843"/>
            </a:schemeClr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91" name="Google Shape;91;p13"/>
          <p:cNvSpPr/>
          <p:nvPr/>
        </p:nvSpPr>
        <p:spPr>
          <a:xfrm>
            <a:off x="434539" y="1435446"/>
            <a:ext cx="11174785" cy="1320535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cxnSp>
        <p:nvCxnSpPr>
          <p:cNvPr id="92" name="Google Shape;92;p13"/>
          <p:cNvCxnSpPr/>
          <p:nvPr/>
        </p:nvCxnSpPr>
        <p:spPr>
          <a:xfrm>
            <a:off x="551957" y="3158183"/>
            <a:ext cx="3600000" cy="0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3"/>
          <p:cNvSpPr/>
          <p:nvPr/>
        </p:nvSpPr>
        <p:spPr>
          <a:xfrm>
            <a:off x="455452" y="1460858"/>
            <a:ext cx="1592089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Descrição:</a:t>
            </a:r>
          </a:p>
        </p:txBody>
      </p:sp>
      <p:sp>
        <p:nvSpPr>
          <p:cNvPr id="94" name="Google Shape;94;p13"/>
          <p:cNvSpPr/>
          <p:nvPr/>
        </p:nvSpPr>
        <p:spPr>
          <a:xfrm>
            <a:off x="4303553" y="2841708"/>
            <a:ext cx="2251466" cy="3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Comentários Adicionais:</a:t>
            </a:r>
          </a:p>
          <a:p/>
        </p:txBody>
      </p:sp>
      <p:sp>
        <p:nvSpPr>
          <p:cNvPr id="95" name="Google Shape;95;p13"/>
          <p:cNvSpPr/>
          <p:nvPr/>
        </p:nvSpPr>
        <p:spPr>
          <a:xfrm>
            <a:off x="455452" y="5262918"/>
            <a:ext cx="3600000" cy="26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Principais Benefícios qualitativos:</a:t>
            </a:r>
          </a:p>
        </p:txBody>
      </p:sp>
      <p:sp>
        <p:nvSpPr>
          <p:cNvPr id="96" name="Google Shape;96;p13"/>
          <p:cNvSpPr/>
          <p:nvPr/>
        </p:nvSpPr>
        <p:spPr>
          <a:xfrm>
            <a:off x="455452" y="2841708"/>
            <a:ext cx="3780190" cy="438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Tecnologias propostas:</a:t>
            </a:r>
          </a:p>
        </p:txBody>
      </p:sp>
      <p:sp>
        <p:nvSpPr>
          <p:cNvPr id="97" name="Google Shape;97;p13"/>
          <p:cNvSpPr/>
          <p:nvPr/>
        </p:nvSpPr>
        <p:spPr>
          <a:xfrm>
            <a:off x="6977960" y="524734"/>
            <a:ext cx="2296564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98" name="Google Shape;98;p13"/>
          <p:cNvSpPr/>
          <p:nvPr/>
        </p:nvSpPr>
        <p:spPr>
          <a:xfrm>
            <a:off x="4608558" y="524734"/>
            <a:ext cx="2296564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99" name="Google Shape;99;p13"/>
          <p:cNvSpPr/>
          <p:nvPr/>
        </p:nvSpPr>
        <p:spPr>
          <a:xfrm>
            <a:off x="431127" y="524734"/>
            <a:ext cx="4104593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/>
        </p:txBody>
      </p:sp>
      <p:sp>
        <p:nvSpPr>
          <p:cNvPr id="100" name="Google Shape;100;p13"/>
          <p:cNvSpPr/>
          <p:nvPr/>
        </p:nvSpPr>
        <p:spPr>
          <a:xfrm>
            <a:off x="10397020" y="626614"/>
            <a:ext cx="1062141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01" name="Google Shape;101;p13"/>
          <p:cNvSpPr/>
          <p:nvPr/>
        </p:nvSpPr>
        <p:spPr>
          <a:xfrm>
            <a:off x="10397020" y="974465"/>
            <a:ext cx="1062141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02" name="Google Shape;102;p13"/>
          <p:cNvSpPr/>
          <p:nvPr/>
        </p:nvSpPr>
        <p:spPr>
          <a:xfrm>
            <a:off x="860643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☑</a:t>
            </a:r>
          </a:p>
        </p:txBody>
      </p:sp>
      <p:sp>
        <p:nvSpPr>
          <p:cNvPr id="103" name="Google Shape;103;p13"/>
          <p:cNvSpPr/>
          <p:nvPr/>
        </p:nvSpPr>
        <p:spPr>
          <a:xfrm>
            <a:off x="2292310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☐</a:t>
            </a:r>
          </a:p>
        </p:txBody>
      </p:sp>
      <p:sp>
        <p:nvSpPr>
          <p:cNvPr id="104" name="Google Shape;104;p13"/>
          <p:cNvSpPr/>
          <p:nvPr/>
        </p:nvSpPr>
        <p:spPr>
          <a:xfrm>
            <a:off x="3418360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☐</a:t>
            </a:r>
          </a:p>
        </p:txBody>
      </p:sp>
      <p:sp>
        <p:nvSpPr>
          <p:cNvPr id="105" name="Google Shape;105;p13"/>
          <p:cNvSpPr/>
          <p:nvPr/>
        </p:nvSpPr>
        <p:spPr>
          <a:xfrm>
            <a:off x="5506050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br/>
            <a:r>
              <a:t>☐</a:t>
            </a:r>
          </a:p>
          <a:p/>
        </p:txBody>
      </p:sp>
      <p:sp>
        <p:nvSpPr>
          <p:cNvPr id="106" name="Google Shape;106;p13"/>
          <p:cNvSpPr/>
          <p:nvPr/>
        </p:nvSpPr>
        <p:spPr>
          <a:xfrm>
            <a:off x="6064775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☑</a:t>
            </a:r>
          </a:p>
        </p:txBody>
      </p:sp>
      <p:sp>
        <p:nvSpPr>
          <p:cNvPr id="107" name="Google Shape;107;p13"/>
          <p:cNvSpPr/>
          <p:nvPr/>
        </p:nvSpPr>
        <p:spPr>
          <a:xfrm>
            <a:off x="6607200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☐</a:t>
            </a:r>
          </a:p>
        </p:txBody>
      </p:sp>
      <p:sp>
        <p:nvSpPr>
          <p:cNvPr id="108" name="Google Shape;108;p13"/>
          <p:cNvSpPr/>
          <p:nvPr/>
        </p:nvSpPr>
        <p:spPr>
          <a:xfrm>
            <a:off x="476058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Solução Proposta:</a:t>
            </a:r>
          </a:p>
        </p:txBody>
      </p:sp>
      <p:sp>
        <p:nvSpPr>
          <p:cNvPr id="109" name="Google Shape;109;p13"/>
          <p:cNvSpPr/>
          <p:nvPr/>
        </p:nvSpPr>
        <p:spPr>
          <a:xfrm>
            <a:off x="4620048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Complexidade:</a:t>
            </a:r>
          </a:p>
        </p:txBody>
      </p:sp>
      <p:sp>
        <p:nvSpPr>
          <p:cNvPr id="110" name="Google Shape;110;p13"/>
          <p:cNvSpPr/>
          <p:nvPr/>
        </p:nvSpPr>
        <p:spPr>
          <a:xfrm>
            <a:off x="7011794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Benefício/Ano:</a:t>
            </a:r>
          </a:p>
        </p:txBody>
      </p:sp>
      <p:sp>
        <p:nvSpPr>
          <p:cNvPr id="111" name="Google Shape;111;p13"/>
          <p:cNvSpPr/>
          <p:nvPr/>
        </p:nvSpPr>
        <p:spPr>
          <a:xfrm>
            <a:off x="9066041" y="573934"/>
            <a:ext cx="1062141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Esforço:</a:t>
            </a:r>
          </a:p>
        </p:txBody>
      </p:sp>
      <p:sp>
        <p:nvSpPr>
          <p:cNvPr id="112" name="Google Shape;112;p13"/>
          <p:cNvSpPr/>
          <p:nvPr/>
        </p:nvSpPr>
        <p:spPr>
          <a:xfrm>
            <a:off x="9359576" y="1017819"/>
            <a:ext cx="679758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Custo:</a:t>
            </a:r>
          </a:p>
        </p:txBody>
      </p:sp>
      <p:sp>
        <p:nvSpPr>
          <p:cNvPr id="113" name="Google Shape;113;p13"/>
          <p:cNvSpPr/>
          <p:nvPr/>
        </p:nvSpPr>
        <p:spPr>
          <a:xfrm>
            <a:off x="1995720" y="951400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14" name="Google Shape;114;p13"/>
          <p:cNvSpPr/>
          <p:nvPr/>
        </p:nvSpPr>
        <p:spPr>
          <a:xfrm>
            <a:off x="1154176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r>
              <a:t>REDUÇÃO DE ERROS MANUAIS</a:t>
            </a:r>
          </a:p>
        </p:txBody>
      </p:sp>
      <p:sp>
        <p:nvSpPr>
          <p:cNvPr id="115" name="Google Shape;115;p13"/>
          <p:cNvSpPr/>
          <p:nvPr/>
        </p:nvSpPr>
        <p:spPr>
          <a:xfrm>
            <a:off x="4610585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r>
              <a:t>GANHO DE AGILIDADE NO PROCESSO</a:t>
            </a:r>
          </a:p>
        </p:txBody>
      </p:sp>
      <p:sp>
        <p:nvSpPr>
          <p:cNvPr id="116" name="Google Shape;116;p13"/>
          <p:cNvSpPr/>
          <p:nvPr/>
        </p:nvSpPr>
        <p:spPr>
          <a:xfrm>
            <a:off x="8066994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r>
              <a:t>PADRONIZAÇÃO DO PROCESSO</a:t>
            </a:r>
          </a:p>
        </p:txBody>
      </p:sp>
      <p:sp>
        <p:nvSpPr>
          <p:cNvPr id="117" name="Google Shape;117;p13"/>
          <p:cNvSpPr txBox="1"/>
          <p:nvPr/>
        </p:nvSpPr>
        <p:spPr>
          <a:xfrm>
            <a:off x="530403" y="1738439"/>
            <a:ext cx="10740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N/A</a:t>
            </a:r>
          </a:p>
        </p:txBody>
      </p:sp>
      <p:sp>
        <p:nvSpPr>
          <p:cNvPr id="118" name="Google Shape;118;p13"/>
          <p:cNvSpPr txBox="1"/>
          <p:nvPr/>
        </p:nvSpPr>
        <p:spPr>
          <a:xfrm>
            <a:off x="10039320" y="583500"/>
            <a:ext cx="15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4 Semanas</a:t>
            </a:r>
          </a:p>
        </p:txBody>
      </p:sp>
      <p:sp>
        <p:nvSpPr>
          <p:cNvPr id="119" name="Google Shape;119;p13"/>
          <p:cNvSpPr txBox="1"/>
          <p:nvPr/>
        </p:nvSpPr>
        <p:spPr>
          <a:xfrm>
            <a:off x="9999665" y="845909"/>
            <a:ext cx="1159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/>
          <a:p>
            <a:r>
              <a:t>R$ 25.000,00</a:t>
            </a:r>
          </a:p>
        </p:txBody>
      </p:sp>
      <p:sp>
        <p:nvSpPr>
          <p:cNvPr id="120" name="Google Shape;120;p13"/>
          <p:cNvSpPr txBox="1"/>
          <p:nvPr/>
        </p:nvSpPr>
        <p:spPr>
          <a:xfrm>
            <a:off x="4277604" y="3342740"/>
            <a:ext cx="367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O processo atual depende de planilhas manuais e e-mail, gerando alto risco operacional.</a:t>
            </a:r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887" y="866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734" y="86880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3121112" y="958262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24" name="Google Shape;124;p13"/>
          <p:cNvSpPr/>
          <p:nvPr/>
        </p:nvSpPr>
        <p:spPr>
          <a:xfrm>
            <a:off x="5267738" y="959186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25" name="Google Shape;125;p13"/>
          <p:cNvSpPr/>
          <p:nvPr/>
        </p:nvSpPr>
        <p:spPr>
          <a:xfrm>
            <a:off x="5808000" y="947522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26" name="Google Shape;126;p13"/>
          <p:cNvSpPr/>
          <p:nvPr/>
        </p:nvSpPr>
        <p:spPr>
          <a:xfrm>
            <a:off x="6381972" y="945519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27" name="Google Shape;127;p13"/>
          <p:cNvSpPr/>
          <p:nvPr/>
        </p:nvSpPr>
        <p:spPr>
          <a:xfrm>
            <a:off x="555270" y="954967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cxnSp>
        <p:nvCxnSpPr>
          <p:cNvPr id="128" name="Google Shape;128;p13"/>
          <p:cNvCxnSpPr/>
          <p:nvPr/>
        </p:nvCxnSpPr>
        <p:spPr>
          <a:xfrm>
            <a:off x="4367727" y="3158183"/>
            <a:ext cx="3600000" cy="0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3"/>
          <p:cNvSpPr/>
          <p:nvPr/>
        </p:nvSpPr>
        <p:spPr>
          <a:xfrm>
            <a:off x="4934902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r>
              <a:t>☐</a:t>
            </a:r>
          </a:p>
        </p:txBody>
      </p:sp>
      <p:sp>
        <p:nvSpPr>
          <p:cNvPr id="130" name="Google Shape;130;p13"/>
          <p:cNvSpPr/>
          <p:nvPr/>
        </p:nvSpPr>
        <p:spPr>
          <a:xfrm>
            <a:off x="4670838" y="959186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/>
        </p:txBody>
      </p:sp>
      <p:sp>
        <p:nvSpPr>
          <p:cNvPr id="131" name="Google Shape;131;p13"/>
          <p:cNvSpPr txBox="1"/>
          <p:nvPr/>
        </p:nvSpPr>
        <p:spPr>
          <a:xfrm>
            <a:off x="6843976" y="689513"/>
            <a:ext cx="229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~54h/ano</a:t>
            </a:r>
          </a:p>
          <a:p/>
          <a:p>
            <a:r>
              <a:t>~R$ 9900</a:t>
            </a:r>
            <a:br/>
          </a:p>
        </p:txBody>
      </p:sp>
      <p:sp>
        <p:nvSpPr>
          <p:cNvPr id="132" name="Google Shape;132;p13"/>
          <p:cNvSpPr txBox="1"/>
          <p:nvPr/>
        </p:nvSpPr>
        <p:spPr>
          <a:xfrm>
            <a:off x="455452" y="3335909"/>
            <a:ext cx="3672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Power Automate, Azure OpenAI, SharePoint</a:t>
            </a:r>
          </a:p>
          <a:p/>
          <a:p/>
        </p:txBody>
      </p:sp>
      <p:sp>
        <p:nvSpPr>
          <p:cNvPr id="133" name="Google Shape;133;p13"/>
          <p:cNvSpPr/>
          <p:nvPr/>
        </p:nvSpPr>
        <p:spPr>
          <a:xfrm>
            <a:off x="8120845" y="2841291"/>
            <a:ext cx="2251466" cy="3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Riscos mapeados:</a:t>
            </a:r>
          </a:p>
        </p:txBody>
      </p:sp>
      <p:cxnSp>
        <p:nvCxnSpPr>
          <p:cNvPr id="134" name="Google Shape;134;p13"/>
          <p:cNvCxnSpPr/>
          <p:nvPr/>
        </p:nvCxnSpPr>
        <p:spPr>
          <a:xfrm>
            <a:off x="8185019" y="3157766"/>
            <a:ext cx="3308781" cy="104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8327713" y="3380400"/>
            <a:ext cx="302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t>Resistência à mudança, Integração com sistemas legados.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